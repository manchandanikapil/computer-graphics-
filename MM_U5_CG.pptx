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1536"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85101D52-3891-4BFA-82A7-6D139CF0CC1C}" type="datetimeFigureOut">
              <a:rPr lang="en-US" smtClean="0"/>
              <a:pPr/>
              <a:t>4/4/2020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4CBA9558-447E-4B71-96B2-9903C516E00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5101D52-3891-4BFA-82A7-6D139CF0CC1C}" type="datetimeFigureOut">
              <a:rPr lang="en-US" smtClean="0"/>
              <a:pPr/>
              <a:t>4/4/2020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CBA9558-447E-4B71-96B2-9903C516E00E}"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85101D52-3891-4BFA-82A7-6D139CF0CC1C}" type="datetimeFigureOut">
              <a:rPr lang="en-US" smtClean="0"/>
              <a:pPr/>
              <a:t>4/4/2020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CBA9558-447E-4B71-96B2-9903C516E00E}"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5101D52-3891-4BFA-82A7-6D139CF0CC1C}" type="datetimeFigureOut">
              <a:rPr lang="en-US" smtClean="0"/>
              <a:pPr/>
              <a:t>4/4/2020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CBA9558-447E-4B71-96B2-9903C516E00E}"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85101D52-3891-4BFA-82A7-6D139CF0CC1C}" type="datetimeFigureOut">
              <a:rPr lang="en-US" smtClean="0"/>
              <a:pPr/>
              <a:t>4/4/2020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4CBA9558-447E-4B71-96B2-9903C516E00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85101D52-3891-4BFA-82A7-6D139CF0CC1C}" type="datetimeFigureOut">
              <a:rPr lang="en-US" smtClean="0"/>
              <a:pPr/>
              <a:t>4/4/2020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4CBA9558-447E-4B71-96B2-9903C516E00E}"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85101D52-3891-4BFA-82A7-6D139CF0CC1C}" type="datetimeFigureOut">
              <a:rPr lang="en-US" smtClean="0"/>
              <a:pPr/>
              <a:t>4/4/2020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4CBA9558-447E-4B71-96B2-9903C516E00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85101D52-3891-4BFA-82A7-6D139CF0CC1C}" type="datetimeFigureOut">
              <a:rPr lang="en-US" smtClean="0"/>
              <a:pPr/>
              <a:t>4/4/2020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4CBA9558-447E-4B71-96B2-9903C516E00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85101D52-3891-4BFA-82A7-6D139CF0CC1C}" type="datetimeFigureOut">
              <a:rPr lang="en-US" smtClean="0"/>
              <a:pPr/>
              <a:t>4/4/2020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4CBA9558-447E-4B71-96B2-9903C516E00E}"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5101D52-3891-4BFA-82A7-6D139CF0CC1C}" type="datetimeFigureOut">
              <a:rPr lang="en-US" smtClean="0"/>
              <a:pPr/>
              <a:t>4/4/2020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CBA9558-447E-4B71-96B2-9903C516E00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5101D52-3891-4BFA-82A7-6D139CF0CC1C}" type="datetimeFigureOut">
              <a:rPr lang="en-US" smtClean="0"/>
              <a:pPr/>
              <a:t>4/4/2020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CBA9558-447E-4B71-96B2-9903C516E00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85101D52-3891-4BFA-82A7-6D139CF0CC1C}" type="datetimeFigureOut">
              <a:rPr lang="en-US" smtClean="0"/>
              <a:pPr/>
              <a:t>4/4/2020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4CBA9558-447E-4B71-96B2-9903C516E00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en.wikipedia.org/wiki/HTML" TargetMode="External"/><Relationship Id="rId2" Type="http://schemas.openxmlformats.org/officeDocument/2006/relationships/hyperlink" Target="http://en.wikipedia.org/wiki/WYSIWY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en.wikipedia.org/wiki/Web_site" TargetMode="External"/><Relationship Id="rId3" Type="http://schemas.openxmlformats.org/officeDocument/2006/relationships/hyperlink" Target="http://en.wikipedia.org/wiki/Computer_program" TargetMode="External"/><Relationship Id="rId7" Type="http://schemas.openxmlformats.org/officeDocument/2006/relationships/hyperlink" Target="http://en.wikipedia.org/wiki/Web_page" TargetMode="External"/><Relationship Id="rId2" Type="http://schemas.openxmlformats.org/officeDocument/2006/relationships/hyperlink" Target="http://en.wikipedia.org/wiki/3D_modeling" TargetMode="External"/><Relationship Id="rId1" Type="http://schemas.openxmlformats.org/officeDocument/2006/relationships/slideLayout" Target="../slideLayouts/slideLayout2.xml"/><Relationship Id="rId6" Type="http://schemas.openxmlformats.org/officeDocument/2006/relationships/hyperlink" Target="http://en.wikipedia.org/wiki/WYSIWYG" TargetMode="External"/><Relationship Id="rId11" Type="http://schemas.openxmlformats.org/officeDocument/2006/relationships/hyperlink" Target="http://en.wikipedia.org/wiki/Raster_graphics" TargetMode="External"/><Relationship Id="rId5" Type="http://schemas.openxmlformats.org/officeDocument/2006/relationships/hyperlink" Target="http://en.wikipedia.org/wiki/Civil_engineer" TargetMode="External"/><Relationship Id="rId10" Type="http://schemas.openxmlformats.org/officeDocument/2006/relationships/hyperlink" Target="http://en.wikipedia.org/wiki/Adobe_Systems" TargetMode="External"/><Relationship Id="rId4" Type="http://schemas.openxmlformats.org/officeDocument/2006/relationships/hyperlink" Target="http://en.wikipedia.org/wiki/Architect" TargetMode="External"/><Relationship Id="rId9" Type="http://schemas.openxmlformats.org/officeDocument/2006/relationships/hyperlink" Target="http://en.wikipedia.org/wiki/Graphics_softwa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3600"/>
            <a:ext cx="7772400" cy="1523999"/>
          </a:xfrm>
        </p:spPr>
        <p:txBody>
          <a:bodyPr>
            <a:normAutofit fontScale="90000"/>
          </a:bodyPr>
          <a:lstStyle/>
          <a:p>
            <a:r>
              <a:rPr lang="en-US" dirty="0" smtClean="0"/>
              <a:t/>
            </a:r>
            <a:br>
              <a:rPr lang="en-US" dirty="0" smtClean="0"/>
            </a:br>
            <a:r>
              <a:rPr lang="en-US" sz="6000" dirty="0" smtClean="0">
                <a:solidFill>
                  <a:srgbClr val="002060"/>
                </a:solidFill>
              </a:rPr>
              <a:t>Unit 5</a:t>
            </a:r>
            <a:br>
              <a:rPr lang="en-US" sz="6000" dirty="0" smtClean="0">
                <a:solidFill>
                  <a:srgbClr val="002060"/>
                </a:solidFill>
              </a:rPr>
            </a:br>
            <a:r>
              <a:rPr lang="en-US" sz="6000" u="sng" dirty="0" smtClean="0">
                <a:solidFill>
                  <a:srgbClr val="002060"/>
                </a:solidFill>
              </a:rPr>
              <a:t>Multimedia</a:t>
            </a:r>
            <a:r>
              <a:rPr lang="en-US" sz="6000" dirty="0">
                <a:solidFill>
                  <a:srgbClr val="002060"/>
                </a:solidFill>
              </a:rPr>
              <a:t/>
            </a:r>
            <a:br>
              <a:rPr lang="en-US" sz="6000" dirty="0">
                <a:solidFill>
                  <a:srgbClr val="002060"/>
                </a:solidFill>
              </a:rPr>
            </a:br>
            <a:endParaRPr lang="en-US" sz="6000" dirty="0">
              <a:solidFill>
                <a:srgbClr val="002060"/>
              </a:solidFill>
            </a:endParaRPr>
          </a:p>
        </p:txBody>
      </p:sp>
      <p:sp>
        <p:nvSpPr>
          <p:cNvPr id="3" name="Subtitle 2"/>
          <p:cNvSpPr>
            <a:spLocks noGrp="1"/>
          </p:cNvSpPr>
          <p:nvPr>
            <p:ph type="subTitle" idx="1"/>
          </p:nvPr>
        </p:nvSpPr>
        <p:spPr>
          <a:xfrm>
            <a:off x="4724400" y="5791200"/>
            <a:ext cx="4267200" cy="762000"/>
          </a:xfrm>
        </p:spPr>
        <p:txBody>
          <a:bodyPr>
            <a:normAutofit fontScale="92500"/>
          </a:bodyPr>
          <a:lstStyle/>
          <a:p>
            <a:r>
              <a:rPr lang="en-US" b="1" dirty="0" smtClean="0">
                <a:solidFill>
                  <a:schemeClr val="bg1">
                    <a:lumMod val="95000"/>
                  </a:schemeClr>
                </a:solidFill>
              </a:rPr>
              <a:t>By: Kapil Kr. </a:t>
            </a:r>
            <a:r>
              <a:rPr lang="en-US" b="1" dirty="0" err="1" smtClean="0">
                <a:solidFill>
                  <a:schemeClr val="bg1">
                    <a:lumMod val="95000"/>
                  </a:schemeClr>
                </a:solidFill>
              </a:rPr>
              <a:t>Manchandani</a:t>
            </a:r>
            <a:endParaRPr lang="en-US" b="1" dirty="0">
              <a:solidFill>
                <a:schemeClr val="bg1">
                  <a:lumMod val="9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800" dirty="0" smtClean="0">
                <a:latin typeface="Times New Roman" pitchFamily="18" charset="0"/>
                <a:cs typeface="Times New Roman" pitchFamily="18" charset="0"/>
              </a:rPr>
              <a:t>Introduction to Making Multimedia.</a:t>
            </a:r>
          </a:p>
          <a:p>
            <a:r>
              <a:rPr lang="en-US" sz="2800" dirty="0" smtClean="0">
                <a:latin typeface="Times New Roman" pitchFamily="18" charset="0"/>
                <a:cs typeface="Times New Roman" pitchFamily="18" charset="0"/>
              </a:rPr>
              <a:t>Use of Multimedia.</a:t>
            </a:r>
          </a:p>
          <a:p>
            <a:r>
              <a:rPr lang="en-US" sz="2800" dirty="0" smtClean="0">
                <a:latin typeface="Times New Roman" pitchFamily="18" charset="0"/>
                <a:cs typeface="Times New Roman" pitchFamily="18" charset="0"/>
              </a:rPr>
              <a:t>Stages </a:t>
            </a:r>
            <a:r>
              <a:rPr lang="en-US" sz="2800" dirty="0">
                <a:latin typeface="Times New Roman" pitchFamily="18" charset="0"/>
                <a:cs typeface="Times New Roman" pitchFamily="18" charset="0"/>
              </a:rPr>
              <a:t>for developing any Multimedia project</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Hardware and Software for making good multimedia skill.</a:t>
            </a:r>
          </a:p>
          <a:p>
            <a:r>
              <a:rPr lang="en-US" sz="2800" dirty="0" smtClean="0">
                <a:latin typeface="Times New Roman" pitchFamily="18" charset="0"/>
                <a:cs typeface="Times New Roman" pitchFamily="18" charset="0"/>
              </a:rPr>
              <a:t>Training opportunity in Multimedia.</a:t>
            </a:r>
          </a:p>
          <a:p>
            <a:r>
              <a:rPr lang="en-US" sz="2800" dirty="0" smtClean="0">
                <a:latin typeface="Times New Roman" pitchFamily="18" charset="0"/>
                <a:cs typeface="Times New Roman" pitchFamily="18" charset="0"/>
              </a:rPr>
              <a:t>Real life Example of Multimedia.</a:t>
            </a:r>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p:txBody>
      </p:sp>
      <p:sp>
        <p:nvSpPr>
          <p:cNvPr id="2" name="Title 1"/>
          <p:cNvSpPr>
            <a:spLocks noGrp="1"/>
          </p:cNvSpPr>
          <p:nvPr>
            <p:ph type="title"/>
          </p:nvPr>
        </p:nvSpPr>
        <p:spPr>
          <a:xfrm>
            <a:off x="457200" y="457200"/>
            <a:ext cx="8229600" cy="960438"/>
          </a:xfrm>
        </p:spPr>
        <p:txBody>
          <a:bodyPr/>
          <a:lstStyle/>
          <a:p>
            <a:r>
              <a:rPr lang="en-US" dirty="0" smtClean="0">
                <a:solidFill>
                  <a:schemeClr val="accent5">
                    <a:lumMod val="75000"/>
                  </a:schemeClr>
                </a:solidFill>
              </a:rPr>
              <a:t>Multimedia Topics</a:t>
            </a:r>
            <a:endParaRPr lang="en-US" dirty="0">
              <a:solidFill>
                <a:schemeClr val="accent5">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smtClean="0"/>
          </a:p>
          <a:p>
            <a:r>
              <a:rPr lang="en-US" dirty="0" smtClean="0"/>
              <a:t>Multimedia is the presentation of computer controlled, interactive and interactive information using the combination of text, sound, pictures, animations and video. The term Multimedia can be define as Medium with multiple content forms.</a:t>
            </a:r>
          </a:p>
          <a:p>
            <a:endParaRPr lang="en-US" dirty="0"/>
          </a:p>
        </p:txBody>
      </p:sp>
      <p:sp>
        <p:nvSpPr>
          <p:cNvPr id="3" name="Title 2"/>
          <p:cNvSpPr>
            <a:spLocks noGrp="1"/>
          </p:cNvSpPr>
          <p:nvPr>
            <p:ph type="title"/>
          </p:nvPr>
        </p:nvSpPr>
        <p:spPr/>
        <p:txBody>
          <a:bodyPr>
            <a:normAutofit/>
          </a:bodyPr>
          <a:lstStyle/>
          <a:p>
            <a:pPr algn="ctr"/>
            <a:r>
              <a:rPr lang="en-US" sz="2900" b="0" dirty="0" smtClean="0">
                <a:latin typeface="Times New Roman" pitchFamily="18" charset="0"/>
                <a:cs typeface="Times New Roman" pitchFamily="18" charset="0"/>
              </a:rPr>
              <a:t>What is multimedia?</a:t>
            </a:r>
            <a:endParaRPr lang="en-US" sz="2900" b="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524000"/>
            <a:ext cx="8763000" cy="4343400"/>
          </a:xfrm>
        </p:spPr>
        <p:txBody>
          <a:bodyPr>
            <a:normAutofit/>
          </a:bodyPr>
          <a:lstStyle/>
          <a:p>
            <a:r>
              <a:rPr lang="en-US" dirty="0" smtClean="0"/>
              <a:t>Movies</a:t>
            </a:r>
          </a:p>
          <a:p>
            <a:r>
              <a:rPr lang="en-US" dirty="0" smtClean="0"/>
              <a:t>Animation</a:t>
            </a:r>
          </a:p>
          <a:p>
            <a:r>
              <a:rPr lang="en-US" dirty="0" smtClean="0"/>
              <a:t>Sound</a:t>
            </a:r>
          </a:p>
          <a:p>
            <a:r>
              <a:rPr lang="en-US" dirty="0" smtClean="0"/>
              <a:t>Text</a:t>
            </a:r>
          </a:p>
          <a:p>
            <a:r>
              <a:rPr lang="en-US" dirty="0" smtClean="0"/>
              <a:t>Still Images</a:t>
            </a:r>
          </a:p>
          <a:p>
            <a:r>
              <a:rPr lang="en-US" dirty="0" smtClean="0"/>
              <a:t>Special Effects</a:t>
            </a:r>
          </a:p>
          <a:p>
            <a:endParaRPr lang="en-US" dirty="0"/>
          </a:p>
        </p:txBody>
      </p:sp>
      <p:sp>
        <p:nvSpPr>
          <p:cNvPr id="3" name="Title 2"/>
          <p:cNvSpPr>
            <a:spLocks noGrp="1"/>
          </p:cNvSpPr>
          <p:nvPr>
            <p:ph type="title"/>
          </p:nvPr>
        </p:nvSpPr>
        <p:spPr/>
        <p:txBody>
          <a:bodyPr>
            <a:noAutofit/>
          </a:bodyPr>
          <a:lstStyle/>
          <a:p>
            <a:r>
              <a:rPr lang="en-US" sz="2400" dirty="0" smtClean="0"/>
              <a:t/>
            </a:r>
            <a:br>
              <a:rPr lang="en-US" sz="2400" dirty="0" smtClean="0"/>
            </a:br>
            <a:r>
              <a:rPr lang="en-US" sz="2400" dirty="0" smtClean="0"/>
              <a:t>The basic elements of multimedia on computer are:</a:t>
            </a:r>
            <a:br>
              <a:rPr lang="en-US" sz="2400" dirty="0" smtClean="0"/>
            </a:b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9"/>
            <a:ext cx="8382000" cy="4157472"/>
          </a:xfrm>
        </p:spPr>
        <p:txBody>
          <a:bodyPr/>
          <a:lstStyle/>
          <a:p>
            <a:endParaRPr lang="en-US" dirty="0" smtClean="0"/>
          </a:p>
          <a:p>
            <a:r>
              <a:rPr lang="en-US" dirty="0" smtClean="0"/>
              <a:t>Multimedia and web projects must be undertaken in stages. Some stages should be completed before other stages begin, and some stages may be skipped or combined.</a:t>
            </a:r>
          </a:p>
          <a:p>
            <a:endParaRPr lang="en-US" dirty="0" smtClean="0"/>
          </a:p>
          <a:p>
            <a:r>
              <a:rPr lang="en-US" dirty="0" smtClean="0"/>
              <a:t>There are the four basic stages in any multimedia projects developing:-</a:t>
            </a:r>
          </a:p>
          <a:p>
            <a:endParaRPr lang="en-US" dirty="0"/>
          </a:p>
        </p:txBody>
      </p:sp>
      <p:sp>
        <p:nvSpPr>
          <p:cNvPr id="3" name="Title 2"/>
          <p:cNvSpPr>
            <a:spLocks noGrp="1"/>
          </p:cNvSpPr>
          <p:nvPr>
            <p:ph type="title"/>
          </p:nvPr>
        </p:nvSpPr>
        <p:spPr/>
        <p:txBody>
          <a:bodyPr>
            <a:normAutofit/>
          </a:bodyPr>
          <a:lstStyle/>
          <a:p>
            <a:pPr algn="ctr"/>
            <a:r>
              <a:rPr lang="en-US" sz="2800" b="0" dirty="0" smtClean="0">
                <a:latin typeface="Times New Roman" pitchFamily="18" charset="0"/>
                <a:cs typeface="Times New Roman" pitchFamily="18" charset="0"/>
              </a:rPr>
              <a:t>Different stages for developing any Multimedia project.</a:t>
            </a:r>
            <a:endParaRPr lang="en-US" sz="2800" b="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b="1" dirty="0" smtClean="0"/>
              <a:t> Planning and costing : </a:t>
            </a:r>
            <a:r>
              <a:rPr lang="en-US" sz="2200" dirty="0" smtClean="0"/>
              <a:t>A project always begins with an idea or a need that you then refine by outlining its messages and objectives. Identify how you will make each message and objective work within your authoring system. Before you being developing, plan out the writing skills, graphic art, music, video, and other multimedia expertise that you will require.</a:t>
            </a:r>
          </a:p>
          <a:p>
            <a:r>
              <a:rPr lang="en-US" sz="2200" dirty="0" smtClean="0"/>
              <a:t/>
            </a:r>
            <a:br>
              <a:rPr lang="en-US" sz="2200" dirty="0" smtClean="0"/>
            </a:br>
            <a:r>
              <a:rPr lang="en-US" sz="2200" dirty="0" smtClean="0"/>
              <a:t>The more time you spend getting a handle on your project by defining its content and structure in the beginning the faster you can later build it, and the less reworking and rearranging will be required midstream.</a:t>
            </a:r>
            <a:r>
              <a:rPr lang="en-US" dirty="0" smtClean="0"/>
              <a:t/>
            </a:r>
            <a:br>
              <a:rPr lang="en-US" dirty="0" smtClean="0"/>
            </a:br>
            <a:endParaRPr lang="en-US" dirty="0" smtClean="0"/>
          </a:p>
          <a:p>
            <a:endParaRPr lang="en-US" dirty="0"/>
          </a:p>
        </p:txBody>
      </p:sp>
      <p:sp>
        <p:nvSpPr>
          <p:cNvPr id="3" name="Title 2"/>
          <p:cNvSpPr>
            <a:spLocks noGrp="1"/>
          </p:cNvSpPr>
          <p:nvPr>
            <p:ph type="title"/>
          </p:nvPr>
        </p:nvSpPr>
        <p:spPr>
          <a:xfrm>
            <a:off x="533400" y="457200"/>
            <a:ext cx="8229600" cy="868362"/>
          </a:xfrm>
        </p:spPr>
        <p:txBody>
          <a:bodyPr>
            <a:normAutofit/>
          </a:bodyPr>
          <a:lstStyle/>
          <a:p>
            <a:pPr algn="ctr"/>
            <a:r>
              <a:rPr lang="en-US" sz="2800" b="0" dirty="0" smtClean="0">
                <a:latin typeface="Times New Roman" pitchFamily="18" charset="0"/>
                <a:cs typeface="Times New Roman" pitchFamily="18" charset="0"/>
              </a:rPr>
              <a:t>Planning and costing</a:t>
            </a:r>
            <a:endParaRPr lang="en-US" sz="2800" b="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a:bodyPr>
          <a:lstStyle/>
          <a:p>
            <a:r>
              <a:rPr lang="en-US" sz="2400" b="1" dirty="0" smtClean="0"/>
              <a:t>Designing and producing : </a:t>
            </a:r>
            <a:r>
              <a:rPr lang="en-US" sz="2400" dirty="0" smtClean="0"/>
              <a:t>Perform each of the planned tasks to create a finished product. During this stage, there may be many feedback cycles with a client until the client is happy.</a:t>
            </a:r>
          </a:p>
          <a:p>
            <a:endParaRPr lang="en-US" sz="2400" b="1" dirty="0" smtClean="0"/>
          </a:p>
          <a:p>
            <a:r>
              <a:rPr lang="en-US" sz="2400" b="1" dirty="0" smtClean="0"/>
              <a:t>Testing: Test</a:t>
            </a:r>
            <a:r>
              <a:rPr lang="en-US" sz="2400" dirty="0" smtClean="0"/>
              <a:t> your programs to make sure that they meet the objectives of your project, work properly on the intended delivery platforms, and meet the needs of your client or end user.</a:t>
            </a:r>
          </a:p>
          <a:p>
            <a:pPr>
              <a:buNone/>
            </a:pPr>
            <a:endParaRPr lang="en-US" sz="2400" dirty="0" smtClean="0"/>
          </a:p>
          <a:p>
            <a:r>
              <a:rPr lang="en-US" sz="2400" b="1" dirty="0" err="1" smtClean="0"/>
              <a:t>Delivering:</a:t>
            </a:r>
            <a:r>
              <a:rPr lang="en-US" sz="2400" dirty="0" err="1" smtClean="0"/>
              <a:t>Package</a:t>
            </a:r>
            <a:r>
              <a:rPr lang="en-US" sz="2400" dirty="0" smtClean="0"/>
              <a:t> and deliver the project to the end user.</a:t>
            </a:r>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400" b="1" dirty="0" smtClean="0">
                <a:latin typeface="Times New Roman" pitchFamily="18" charset="0"/>
                <a:cs typeface="Times New Roman" pitchFamily="18" charset="0"/>
              </a:rPr>
              <a:t>MULTIMEDIA </a:t>
            </a:r>
            <a:r>
              <a:rPr lang="en-US" sz="2400" b="1" dirty="0" smtClean="0">
                <a:latin typeface="Times New Roman" pitchFamily="18" charset="0"/>
                <a:cs typeface="Times New Roman" pitchFamily="18" charset="0"/>
              </a:rPr>
              <a:t>HARDWARE </a:t>
            </a:r>
            <a:r>
              <a:rPr lang="en-US" sz="2400" b="1" dirty="0" smtClean="0">
                <a:latin typeface="Times New Roman" pitchFamily="18" charset="0"/>
                <a:cs typeface="Times New Roman" pitchFamily="18" charset="0"/>
              </a:rPr>
              <a:t>REQUIREMENTS</a:t>
            </a:r>
          </a:p>
          <a:p>
            <a:endParaRPr lang="en-US" sz="2200" b="1"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CPU : </a:t>
            </a:r>
            <a:r>
              <a:rPr lang="en-US" sz="2200" dirty="0" smtClean="0">
                <a:latin typeface="Times New Roman" pitchFamily="18" charset="0"/>
                <a:cs typeface="Times New Roman" pitchFamily="18" charset="0"/>
              </a:rPr>
              <a:t>Central </a:t>
            </a:r>
            <a:r>
              <a:rPr lang="en-US" sz="2200" dirty="0" smtClean="0">
                <a:latin typeface="Times New Roman" pitchFamily="18" charset="0"/>
                <a:cs typeface="Times New Roman" pitchFamily="18" charset="0"/>
              </a:rPr>
              <a:t>Processing Unit (CPU) is an essential part in any computer. It is considered as the brain of computer, where processing and synchronization of all activities takes place. The efficiency of a computer is judged by the speed of the CPU in processing of data. For a multimedia computer a Pentium processor is preferred because of higher efficiency</a:t>
            </a:r>
            <a:r>
              <a:rPr lang="en-US" sz="2200" dirty="0" smtClean="0">
                <a:latin typeface="Times New Roman" pitchFamily="18" charset="0"/>
                <a:cs typeface="Times New Roman" pitchFamily="18" charset="0"/>
              </a:rPr>
              <a:t>.</a:t>
            </a:r>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Monitor :</a:t>
            </a:r>
            <a:r>
              <a:rPr lang="en-US" sz="2200" b="1" i="1"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The </a:t>
            </a:r>
            <a:r>
              <a:rPr lang="en-US" sz="2200" dirty="0" smtClean="0">
                <a:latin typeface="Times New Roman" pitchFamily="18" charset="0"/>
                <a:cs typeface="Times New Roman" pitchFamily="18" charset="0"/>
              </a:rPr>
              <a:t>monitor is used to see the computer output. Generally, it displays 25 rows and 80 columns of text. The text or graphics in a monitor is created as a result of an arrangement of tiny dots, called pixels. Resolution is the amount of details the monitor can render. Resolution is defined in terms of horizontal and vertical pixel (picture elements) displayed on the screen.</a:t>
            </a:r>
          </a:p>
          <a:p>
            <a:endParaRPr lang="en-US" dirty="0"/>
          </a:p>
        </p:txBody>
      </p:sp>
      <p:sp>
        <p:nvSpPr>
          <p:cNvPr id="3" name="Title 2"/>
          <p:cNvSpPr>
            <a:spLocks noGrp="1"/>
          </p:cNvSpPr>
          <p:nvPr>
            <p:ph type="title"/>
          </p:nvPr>
        </p:nvSpPr>
        <p:spPr/>
        <p:txBody>
          <a:bodyPr>
            <a:noAutofit/>
          </a:bodyPr>
          <a:lstStyle/>
          <a:p>
            <a:pPr algn="ctr"/>
            <a:r>
              <a:rPr lang="en-US" sz="2900" b="0" dirty="0" smtClean="0">
                <a:latin typeface="Times New Roman" pitchFamily="18" charset="0"/>
                <a:cs typeface="Times New Roman" pitchFamily="18" charset="0"/>
              </a:rPr>
              <a:t/>
            </a:r>
            <a:br>
              <a:rPr lang="en-US" sz="2900" b="0" dirty="0" smtClean="0">
                <a:latin typeface="Times New Roman" pitchFamily="18" charset="0"/>
                <a:cs typeface="Times New Roman" pitchFamily="18" charset="0"/>
              </a:rPr>
            </a:br>
            <a:r>
              <a:rPr lang="en-US" sz="2900" b="0" dirty="0" smtClean="0">
                <a:latin typeface="Times New Roman" pitchFamily="18" charset="0"/>
                <a:cs typeface="Times New Roman" pitchFamily="18" charset="0"/>
              </a:rPr>
              <a:t>Essential Hardware </a:t>
            </a:r>
            <a:r>
              <a:rPr lang="en-US" sz="2900" b="0" dirty="0" smtClean="0">
                <a:latin typeface="Times New Roman" pitchFamily="18" charset="0"/>
                <a:cs typeface="Times New Roman" pitchFamily="18" charset="0"/>
              </a:rPr>
              <a:t>and </a:t>
            </a:r>
            <a:r>
              <a:rPr lang="en-US" sz="2900" b="0" dirty="0" smtClean="0">
                <a:latin typeface="Times New Roman" pitchFamily="18" charset="0"/>
                <a:cs typeface="Times New Roman" pitchFamily="18" charset="0"/>
              </a:rPr>
              <a:t>Software </a:t>
            </a:r>
            <a:r>
              <a:rPr lang="en-US" sz="2900" b="0" dirty="0" err="1" smtClean="0">
                <a:latin typeface="Times New Roman" pitchFamily="18" charset="0"/>
                <a:cs typeface="Times New Roman" pitchFamily="18" charset="0"/>
              </a:rPr>
              <a:t>requirment</a:t>
            </a:r>
            <a:r>
              <a:rPr lang="en-US" sz="2900" b="0" dirty="0" smtClean="0">
                <a:latin typeface="Times New Roman" pitchFamily="18" charset="0"/>
                <a:cs typeface="Times New Roman" pitchFamily="18" charset="0"/>
              </a:rPr>
              <a:t/>
            </a:r>
            <a:br>
              <a:rPr lang="en-US" sz="2900" b="0" dirty="0" smtClean="0">
                <a:latin typeface="Times New Roman" pitchFamily="18" charset="0"/>
                <a:cs typeface="Times New Roman" pitchFamily="18" charset="0"/>
              </a:rPr>
            </a:br>
            <a:endParaRPr lang="en-US" sz="2900" b="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00200"/>
            <a:ext cx="8229600" cy="4233672"/>
          </a:xfrm>
        </p:spPr>
        <p:txBody>
          <a:bodyPr>
            <a:noAutofit/>
          </a:bodyPr>
          <a:lstStyle/>
          <a:p>
            <a:r>
              <a:rPr lang="en-US" sz="2000" b="1" dirty="0" smtClean="0">
                <a:latin typeface="Times New Roman" pitchFamily="18" charset="0"/>
                <a:cs typeface="Times New Roman" pitchFamily="18" charset="0"/>
              </a:rPr>
              <a:t>Video Grabbing </a:t>
            </a:r>
            <a:r>
              <a:rPr lang="en-US" sz="2000" b="1" dirty="0" smtClean="0">
                <a:latin typeface="Times New Roman" pitchFamily="18" charset="0"/>
                <a:cs typeface="Times New Roman" pitchFamily="18" charset="0"/>
              </a:rPr>
              <a:t>Card : </a:t>
            </a:r>
            <a:r>
              <a:rPr lang="en-US" sz="2000" dirty="0" smtClean="0">
                <a:latin typeface="Times New Roman" pitchFamily="18" charset="0"/>
                <a:cs typeface="Times New Roman" pitchFamily="18" charset="0"/>
              </a:rPr>
              <a:t>We </a:t>
            </a:r>
            <a:r>
              <a:rPr lang="en-US" sz="2000" dirty="0" smtClean="0">
                <a:latin typeface="Times New Roman" pitchFamily="18" charset="0"/>
                <a:cs typeface="Times New Roman" pitchFamily="18" charset="0"/>
              </a:rPr>
              <a:t>need to convert the analog video signal to digital signal for processing in a computer. Normal computer will not be able to do it alone. It requires special equipment called video grabbing card and software to this conversion process. This card translates the analog signal it receives from conventional sources such as a VCR or a video camera, and converts them into digital format.</a:t>
            </a:r>
          </a:p>
          <a:p>
            <a:r>
              <a:rPr lang="en-US" sz="2000" b="1" dirty="0" smtClean="0">
                <a:latin typeface="Times New Roman" pitchFamily="18" charset="0"/>
                <a:cs typeface="Times New Roman" pitchFamily="18" charset="0"/>
              </a:rPr>
              <a:t>Sound </a:t>
            </a:r>
            <a:r>
              <a:rPr lang="en-US" sz="2000" b="1" dirty="0" smtClean="0">
                <a:latin typeface="Times New Roman" pitchFamily="18" charset="0"/>
                <a:cs typeface="Times New Roman" pitchFamily="18" charset="0"/>
              </a:rPr>
              <a:t>Card </a:t>
            </a:r>
            <a:r>
              <a:rPr lang="en-US" sz="2000" b="1"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Today’s </a:t>
            </a:r>
            <a:r>
              <a:rPr lang="en-US" sz="2000" dirty="0" smtClean="0">
                <a:latin typeface="Times New Roman" pitchFamily="18" charset="0"/>
                <a:cs typeface="Times New Roman" pitchFamily="18" charset="0"/>
              </a:rPr>
              <a:t>computers are capable of creating the professional multimedia needs. Not only you can use computer to compose your own music, but it can also be used for recognition of speech and synthesis. It can even read back the entire document for you. But before all this happens, we need to convert the conventional sound signal to computer understandable digital signals. This is done using a special component added to the system called sound card.</a:t>
            </a:r>
          </a:p>
          <a:p>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3" name="Title 2"/>
          <p:cNvSpPr>
            <a:spLocks noGrp="1"/>
          </p:cNvSpPr>
          <p:nvPr>
            <p:ph type="title"/>
          </p:nvPr>
        </p:nvSpPr>
        <p:spPr/>
        <p:txBody>
          <a:bodyPr>
            <a:noAutofit/>
          </a:bodyPr>
          <a:lstStyle/>
          <a:p>
            <a:pPr algn="ctr"/>
            <a:r>
              <a:rPr lang="en-US" sz="2800" b="0" dirty="0" smtClean="0">
                <a:latin typeface="Times New Roman" pitchFamily="18" charset="0"/>
                <a:cs typeface="Times New Roman" pitchFamily="18" charset="0"/>
              </a:rPr>
              <a:t/>
            </a:r>
            <a:br>
              <a:rPr lang="en-US" sz="2800" b="0" dirty="0" smtClean="0">
                <a:latin typeface="Times New Roman" pitchFamily="18" charset="0"/>
                <a:cs typeface="Times New Roman" pitchFamily="18" charset="0"/>
              </a:rPr>
            </a:br>
            <a:r>
              <a:rPr lang="en-US" sz="2800" b="0" dirty="0" smtClean="0">
                <a:latin typeface="Times New Roman" pitchFamily="18" charset="0"/>
                <a:cs typeface="Times New Roman" pitchFamily="18" charset="0"/>
              </a:rPr>
              <a:t>MULTIMEDIA  HARDWARERE RQUIREMENTS.</a:t>
            </a:r>
            <a:r>
              <a:rPr lang="en-US" sz="2800" b="0" dirty="0" smtClean="0">
                <a:latin typeface="Times New Roman" pitchFamily="18" charset="0"/>
                <a:cs typeface="Times New Roman" pitchFamily="18" charset="0"/>
              </a:rPr>
              <a:t/>
            </a:r>
            <a:br>
              <a:rPr lang="en-US" sz="2800" b="0" dirty="0" smtClean="0">
                <a:latin typeface="Times New Roman" pitchFamily="18" charset="0"/>
                <a:cs typeface="Times New Roman" pitchFamily="18" charset="0"/>
              </a:rPr>
            </a:br>
            <a:endParaRPr lang="en-US" sz="2800" b="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sz="2000" dirty="0" smtClean="0">
                <a:latin typeface="Times New Roman" pitchFamily="18" charset="0"/>
                <a:cs typeface="Times New Roman" pitchFamily="18" charset="0"/>
              </a:rPr>
              <a:t>For the creation of  multimedia on the PC there are hundreds of software packages that are available from manufacturers all over the world.</a:t>
            </a:r>
          </a:p>
          <a:p>
            <a:r>
              <a:rPr lang="en-US" sz="2000" dirty="0" smtClean="0">
                <a:latin typeface="Times New Roman" pitchFamily="18" charset="0"/>
                <a:cs typeface="Times New Roman" pitchFamily="18" charset="0"/>
              </a:rPr>
              <a:t>These software packages can cost anything from being absolutely free (normally this software is called freeware or shareware) to anything upwards of £500</a:t>
            </a:r>
            <a:r>
              <a:rPr lang="en-US" sz="2000" dirty="0" smtClean="0">
                <a:latin typeface="Times New Roman" pitchFamily="18" charset="0"/>
                <a:cs typeface="Times New Roman" pitchFamily="18" charset="0"/>
              </a:rPr>
              <a:t>.</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Adobe </a:t>
            </a:r>
            <a:r>
              <a:rPr lang="en-US" sz="2000" b="1" dirty="0" smtClean="0">
                <a:latin typeface="Times New Roman" pitchFamily="18" charset="0"/>
                <a:cs typeface="Times New Roman" pitchFamily="18" charset="0"/>
              </a:rPr>
              <a:t>CS4 : </a:t>
            </a:r>
            <a:r>
              <a:rPr lang="en-US" sz="2000" dirty="0" smtClean="0">
                <a:latin typeface="Times New Roman" pitchFamily="18" charset="0"/>
                <a:cs typeface="Times New Roman" pitchFamily="18" charset="0"/>
              </a:rPr>
              <a:t>Adobe </a:t>
            </a:r>
            <a:r>
              <a:rPr lang="en-US" sz="2000" dirty="0" smtClean="0">
                <a:latin typeface="Times New Roman" pitchFamily="18" charset="0"/>
                <a:cs typeface="Times New Roman" pitchFamily="18" charset="0"/>
              </a:rPr>
              <a:t>CS4 is a collection of graphic design, video editing, and web development applications made by Adobe Systems many of which are the industry standard that </a:t>
            </a:r>
            <a:r>
              <a:rPr lang="en-US" sz="2000" dirty="0" smtClean="0">
                <a:latin typeface="Times New Roman" pitchFamily="18" charset="0"/>
                <a:cs typeface="Times New Roman" pitchFamily="18" charset="0"/>
              </a:rPr>
              <a:t>includes</a:t>
            </a:r>
          </a:p>
          <a:p>
            <a:endParaRPr lang="en-US" sz="20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Adobe </a:t>
            </a:r>
            <a:r>
              <a:rPr lang="en-US" sz="2200" b="1" dirty="0" smtClean="0">
                <a:latin typeface="Times New Roman" pitchFamily="18" charset="0"/>
                <a:cs typeface="Times New Roman" pitchFamily="18" charset="0"/>
              </a:rPr>
              <a:t>Dreamweaver </a:t>
            </a:r>
            <a:r>
              <a:rPr lang="en-US" sz="2200" dirty="0" smtClean="0">
                <a:latin typeface="Times New Roman" pitchFamily="18" charset="0"/>
                <a:cs typeface="Times New Roman" pitchFamily="18" charset="0"/>
              </a:rPr>
              <a:t>: Although </a:t>
            </a:r>
            <a:r>
              <a:rPr lang="en-US" sz="2200" dirty="0" smtClean="0">
                <a:latin typeface="Times New Roman" pitchFamily="18" charset="0"/>
                <a:cs typeface="Times New Roman" pitchFamily="18" charset="0"/>
              </a:rPr>
              <a:t>a hybrid </a:t>
            </a:r>
            <a:r>
              <a:rPr lang="en-US" sz="2200" dirty="0" smtClean="0">
                <a:latin typeface="Times New Roman" pitchFamily="18" charset="0"/>
                <a:cs typeface="Times New Roman" pitchFamily="18" charset="0"/>
                <a:hlinkClick r:id="rId2" tooltip="WYSIWYG"/>
              </a:rPr>
              <a:t>WYSIWYG</a:t>
            </a:r>
            <a:r>
              <a:rPr lang="en-US" sz="2200" dirty="0" smtClean="0">
                <a:latin typeface="Times New Roman" pitchFamily="18" charset="0"/>
                <a:cs typeface="Times New Roman" pitchFamily="18" charset="0"/>
              </a:rPr>
              <a:t> and code-based web design and development application, Dreamweaver’s </a:t>
            </a:r>
            <a:r>
              <a:rPr lang="en-US" sz="2200" dirty="0" smtClean="0">
                <a:latin typeface="Times New Roman" pitchFamily="18" charset="0"/>
                <a:cs typeface="Times New Roman" pitchFamily="18" charset="0"/>
                <a:hlinkClick r:id="rId2" tooltip="WYSIWYG"/>
              </a:rPr>
              <a:t>WYSIWYG</a:t>
            </a:r>
            <a:r>
              <a:rPr lang="en-US" sz="2200" dirty="0" smtClean="0">
                <a:latin typeface="Times New Roman" pitchFamily="18" charset="0"/>
                <a:cs typeface="Times New Roman" pitchFamily="18" charset="0"/>
              </a:rPr>
              <a:t> mode can hide the </a:t>
            </a:r>
            <a:r>
              <a:rPr lang="en-US" sz="2200" dirty="0" smtClean="0">
                <a:latin typeface="Times New Roman" pitchFamily="18" charset="0"/>
                <a:cs typeface="Times New Roman" pitchFamily="18" charset="0"/>
                <a:hlinkClick r:id="rId3" tooltip="HTML"/>
              </a:rPr>
              <a:t>HTML</a:t>
            </a:r>
            <a:r>
              <a:rPr lang="en-US" sz="2200" dirty="0" smtClean="0">
                <a:latin typeface="Times New Roman" pitchFamily="18" charset="0"/>
                <a:cs typeface="Times New Roman" pitchFamily="18" charset="0"/>
              </a:rPr>
              <a:t> code details of pages from the user, making it possible for non-coders to create web pages and sites.WYSIWYG (What You See Is What You Get) web development software that allows users to create websites with out using Html, everything can be done visually.</a:t>
            </a:r>
          </a:p>
          <a:p>
            <a:endParaRPr lang="en-US" sz="2000" dirty="0">
              <a:latin typeface="Times New Roman" pitchFamily="18" charset="0"/>
              <a:cs typeface="Times New Roman" pitchFamily="18" charset="0"/>
            </a:endParaRPr>
          </a:p>
        </p:txBody>
      </p:sp>
      <p:sp>
        <p:nvSpPr>
          <p:cNvPr id="3" name="Title 2"/>
          <p:cNvSpPr>
            <a:spLocks noGrp="1"/>
          </p:cNvSpPr>
          <p:nvPr>
            <p:ph type="title"/>
          </p:nvPr>
        </p:nvSpPr>
        <p:spPr/>
        <p:txBody>
          <a:bodyPr>
            <a:normAutofit fontScale="90000"/>
          </a:bodyPr>
          <a:lstStyle/>
          <a:p>
            <a:pPr algn="ctr"/>
            <a:r>
              <a:rPr lang="en-US" sz="3200" b="0" dirty="0" smtClean="0">
                <a:latin typeface="Times New Roman" pitchFamily="18" charset="0"/>
                <a:cs typeface="Times New Roman" pitchFamily="18" charset="0"/>
              </a:rPr>
              <a:t/>
            </a:r>
            <a:br>
              <a:rPr lang="en-US" sz="3200" b="0" dirty="0" smtClean="0">
                <a:latin typeface="Times New Roman" pitchFamily="18" charset="0"/>
                <a:cs typeface="Times New Roman" pitchFamily="18" charset="0"/>
              </a:rPr>
            </a:br>
            <a:r>
              <a:rPr lang="en-US" sz="3200" b="0" dirty="0" smtClean="0">
                <a:latin typeface="Times New Roman" pitchFamily="18" charset="0"/>
                <a:cs typeface="Times New Roman" pitchFamily="18" charset="0"/>
              </a:rPr>
              <a:t>MULTIMEDIA </a:t>
            </a:r>
            <a:r>
              <a:rPr lang="en-US" sz="3200" b="0" dirty="0" smtClean="0">
                <a:latin typeface="Times New Roman" pitchFamily="18" charset="0"/>
                <a:cs typeface="Times New Roman" pitchFamily="18" charset="0"/>
              </a:rPr>
              <a:t>SOFTWARE REQUIREMENTS</a:t>
            </a:r>
            <a:br>
              <a:rPr lang="en-US" sz="3200" b="0" dirty="0" smtClean="0">
                <a:latin typeface="Times New Roman" pitchFamily="18" charset="0"/>
                <a:cs typeface="Times New Roman" pitchFamily="18" charset="0"/>
              </a:rPr>
            </a:br>
            <a:endParaRPr lang="en-US" sz="3200" b="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sz="2000" b="1" dirty="0" smtClean="0">
                <a:latin typeface="Times New Roman" pitchFamily="18" charset="0"/>
                <a:cs typeface="Times New Roman" pitchFamily="18" charset="0"/>
              </a:rPr>
              <a:t>Gimp</a:t>
            </a:r>
            <a:r>
              <a:rPr lang="en-US" sz="2000" dirty="0" smtClean="0">
                <a:latin typeface="Times New Roman" pitchFamily="18" charset="0"/>
                <a:cs typeface="Times New Roman" pitchFamily="18" charset="0"/>
              </a:rPr>
              <a:t> : </a:t>
            </a:r>
            <a:r>
              <a:rPr lang="en-US" sz="2000" dirty="0" smtClean="0">
                <a:latin typeface="Times New Roman" pitchFamily="18" charset="0"/>
                <a:cs typeface="Times New Roman" pitchFamily="18" charset="0"/>
              </a:rPr>
              <a:t> Is an alternative to Photoshop and cheaper but not quite as good</a:t>
            </a:r>
            <a:r>
              <a:rPr lang="en-US" sz="2000"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Google </a:t>
            </a:r>
            <a:r>
              <a:rPr lang="en-US" sz="2000" b="1" dirty="0" smtClean="0">
                <a:latin typeface="Times New Roman" pitchFamily="18" charset="0"/>
                <a:cs typeface="Times New Roman" pitchFamily="18" charset="0"/>
              </a:rPr>
              <a:t>Sketch up : </a:t>
            </a:r>
            <a:r>
              <a:rPr lang="en-US" sz="2000" dirty="0" err="1" smtClean="0">
                <a:latin typeface="Times New Roman" pitchFamily="18" charset="0"/>
                <a:cs typeface="Times New Roman" pitchFamily="18" charset="0"/>
              </a:rPr>
              <a:t>SketchUp</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is a </a:t>
            </a:r>
            <a:r>
              <a:rPr lang="en-US" sz="2000" dirty="0" smtClean="0">
                <a:latin typeface="Times New Roman" pitchFamily="18" charset="0"/>
                <a:cs typeface="Times New Roman" pitchFamily="18" charset="0"/>
                <a:hlinkClick r:id="rId2" tooltip="3D modeling"/>
              </a:rPr>
              <a:t>3D modeling</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hlinkClick r:id="rId3" tooltip="Computer program"/>
              </a:rPr>
              <a:t>program</a:t>
            </a:r>
            <a:r>
              <a:rPr lang="en-US" sz="2000" dirty="0" smtClean="0">
                <a:latin typeface="Times New Roman" pitchFamily="18" charset="0"/>
                <a:cs typeface="Times New Roman" pitchFamily="18" charset="0"/>
              </a:rPr>
              <a:t> designed for </a:t>
            </a:r>
            <a:r>
              <a:rPr lang="en-US" sz="2000" dirty="0" smtClean="0">
                <a:latin typeface="Times New Roman" pitchFamily="18" charset="0"/>
                <a:cs typeface="Times New Roman" pitchFamily="18" charset="0"/>
                <a:hlinkClick r:id="rId4" tooltip="Architect"/>
              </a:rPr>
              <a:t>architects</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hlinkClick r:id="rId5" tooltip="Civil engineer"/>
              </a:rPr>
              <a:t>civil engineers</a:t>
            </a:r>
            <a:r>
              <a:rPr lang="en-US" sz="2000" dirty="0" smtClean="0">
                <a:latin typeface="Times New Roman" pitchFamily="18" charset="0"/>
                <a:cs typeface="Times New Roman" pitchFamily="18" charset="0"/>
              </a:rPr>
              <a:t>, filmmakers, game developers, and related professions</a:t>
            </a:r>
            <a:r>
              <a:rPr lang="en-US" sz="2000"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Microsoft </a:t>
            </a:r>
            <a:r>
              <a:rPr lang="en-US" sz="2000" b="1" dirty="0" smtClean="0">
                <a:latin typeface="Times New Roman" pitchFamily="18" charset="0"/>
                <a:cs typeface="Times New Roman" pitchFamily="18" charset="0"/>
              </a:rPr>
              <a:t>FrontPage :  </a:t>
            </a:r>
            <a:r>
              <a:rPr lang="en-US" sz="2000" dirty="0" smtClean="0">
                <a:latin typeface="Times New Roman" pitchFamily="18" charset="0"/>
                <a:cs typeface="Times New Roman" pitchFamily="18" charset="0"/>
              </a:rPr>
              <a:t>As </a:t>
            </a:r>
            <a:r>
              <a:rPr lang="en-US" sz="2000" dirty="0" smtClean="0">
                <a:latin typeface="Times New Roman" pitchFamily="18" charset="0"/>
                <a:cs typeface="Times New Roman" pitchFamily="18" charset="0"/>
              </a:rPr>
              <a:t>a </a:t>
            </a:r>
            <a:r>
              <a:rPr lang="en-US" sz="2000" dirty="0" smtClean="0">
                <a:latin typeface="Times New Roman" pitchFamily="18" charset="0"/>
                <a:cs typeface="Times New Roman" pitchFamily="18" charset="0"/>
                <a:hlinkClick r:id="rId6" tooltip="WYSIWYG"/>
              </a:rPr>
              <a:t>WYSIWYG</a:t>
            </a:r>
            <a:r>
              <a:rPr lang="en-US" sz="2000" dirty="0" smtClean="0">
                <a:latin typeface="Times New Roman" pitchFamily="18" charset="0"/>
                <a:cs typeface="Times New Roman" pitchFamily="18" charset="0"/>
              </a:rPr>
              <a:t> editor, FrontPage is designed to hide the details of pages’ HTML code from the user, making it possible for novices to easily create </a:t>
            </a:r>
            <a:r>
              <a:rPr lang="en-US" sz="2000" dirty="0" smtClean="0">
                <a:latin typeface="Times New Roman" pitchFamily="18" charset="0"/>
                <a:cs typeface="Times New Roman" pitchFamily="18" charset="0"/>
                <a:hlinkClick r:id="rId7" tooltip="Web page"/>
              </a:rPr>
              <a:t>web pages</a:t>
            </a:r>
            <a:r>
              <a:rPr lang="en-US" sz="2000" dirty="0" smtClean="0">
                <a:latin typeface="Times New Roman" pitchFamily="18" charset="0"/>
                <a:cs typeface="Times New Roman" pitchFamily="18" charset="0"/>
              </a:rPr>
              <a:t> and </a:t>
            </a:r>
            <a:r>
              <a:rPr lang="en-US" sz="2000" dirty="0" smtClean="0">
                <a:latin typeface="Times New Roman" pitchFamily="18" charset="0"/>
                <a:cs typeface="Times New Roman" pitchFamily="18" charset="0"/>
                <a:hlinkClick r:id="rId8" tooltip="Web site"/>
              </a:rPr>
              <a:t>sites</a:t>
            </a:r>
            <a:r>
              <a:rPr lang="en-US" sz="2000"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 Photoshop </a:t>
            </a:r>
            <a:r>
              <a:rPr lang="en-US" sz="2200" b="1" dirty="0" smtClean="0">
                <a:latin typeface="Times New Roman" pitchFamily="18" charset="0"/>
                <a:cs typeface="Times New Roman" pitchFamily="18" charset="0"/>
              </a:rPr>
              <a:t>Pro : </a:t>
            </a:r>
            <a:r>
              <a:rPr lang="en-US" sz="2000" dirty="0" smtClean="0"/>
              <a:t>Adobe </a:t>
            </a:r>
            <a:r>
              <a:rPr lang="en-US" sz="2000" dirty="0" smtClean="0"/>
              <a:t>Photoshop, or simply Photoshop, is a </a:t>
            </a:r>
            <a:r>
              <a:rPr lang="en-US" sz="2000" dirty="0" smtClean="0">
                <a:hlinkClick r:id="rId9" tooltip="Graphics software"/>
              </a:rPr>
              <a:t>graphics editing program</a:t>
            </a:r>
            <a:r>
              <a:rPr lang="en-US" sz="2000" dirty="0" smtClean="0"/>
              <a:t> developed and published by </a:t>
            </a:r>
            <a:r>
              <a:rPr lang="en-US" sz="2000" dirty="0" smtClean="0">
                <a:hlinkClick r:id="rId10" tooltip="Adobe Systems"/>
              </a:rPr>
              <a:t>Adobe Systems</a:t>
            </a:r>
            <a:r>
              <a:rPr lang="en-US" sz="2000" dirty="0" smtClean="0"/>
              <a:t>. It is the current market leader for commercial </a:t>
            </a:r>
            <a:r>
              <a:rPr lang="en-US" sz="2000" dirty="0" smtClean="0">
                <a:hlinkClick r:id="rId11" tooltip="Raster graphics"/>
              </a:rPr>
              <a:t>bitmap</a:t>
            </a:r>
            <a:r>
              <a:rPr lang="en-US" sz="2000" dirty="0" smtClean="0"/>
              <a:t> and image manipulation software, and is the flagship product of Adobe Systems. It has been described as “an industry standard for graphics professionals”</a:t>
            </a:r>
          </a:p>
          <a:p>
            <a:pPr>
              <a:buNone/>
            </a:pPr>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
        <p:nvSpPr>
          <p:cNvPr id="3" name="Title 2"/>
          <p:cNvSpPr>
            <a:spLocks noGrp="1"/>
          </p:cNvSpPr>
          <p:nvPr>
            <p:ph type="title"/>
          </p:nvPr>
        </p:nvSpPr>
        <p:spPr/>
        <p:txBody>
          <a:bodyPr>
            <a:noAutofit/>
          </a:bodyPr>
          <a:lstStyle/>
          <a:p>
            <a:pPr algn="ctr"/>
            <a:r>
              <a:rPr lang="en-US" sz="2900" b="0" dirty="0" smtClean="0">
                <a:latin typeface="Times New Roman" pitchFamily="18" charset="0"/>
                <a:cs typeface="Times New Roman" pitchFamily="18" charset="0"/>
              </a:rPr>
              <a:t/>
            </a:r>
            <a:br>
              <a:rPr lang="en-US" sz="2900" b="0" dirty="0" smtClean="0">
                <a:latin typeface="Times New Roman" pitchFamily="18" charset="0"/>
                <a:cs typeface="Times New Roman" pitchFamily="18" charset="0"/>
              </a:rPr>
            </a:br>
            <a:r>
              <a:rPr lang="en-US" sz="2900" b="0" dirty="0" smtClean="0">
                <a:latin typeface="Times New Roman" pitchFamily="18" charset="0"/>
                <a:cs typeface="Times New Roman" pitchFamily="18" charset="0"/>
              </a:rPr>
              <a:t>MULTIMEDIA SOFTWARE REQUIREMENTS</a:t>
            </a:r>
            <a:br>
              <a:rPr lang="en-US" sz="2900" b="0" dirty="0" smtClean="0">
                <a:latin typeface="Times New Roman" pitchFamily="18" charset="0"/>
                <a:cs typeface="Times New Roman" pitchFamily="18" charset="0"/>
              </a:rPr>
            </a:br>
            <a:endParaRPr lang="en-US" sz="2900"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48</TotalTime>
  <Words>607</Words>
  <Application>Microsoft Office PowerPoint</Application>
  <PresentationFormat>On-screen Show (4:3)</PresentationFormat>
  <Paragraphs>56</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Concourse</vt:lpstr>
      <vt:lpstr> Unit 5 Multimedia </vt:lpstr>
      <vt:lpstr>Multimedia Topics</vt:lpstr>
      <vt:lpstr>What is multimedia?</vt:lpstr>
      <vt:lpstr> The basic elements of multimedia on computer are: </vt:lpstr>
      <vt:lpstr>Different stages for developing any Multimedia project.</vt:lpstr>
      <vt:lpstr>Planning and costing</vt:lpstr>
      <vt:lpstr>Slide 7</vt:lpstr>
      <vt:lpstr> Essential Hardware and Software requirment </vt:lpstr>
      <vt:lpstr> MULTIMEDIA  HARDWARERE RQUIREMENTS. </vt:lpstr>
      <vt:lpstr> MULTIMEDIA SOFTWARE REQUIREMENTS </vt:lpstr>
      <vt:lpstr> MULTIMEDIA SOFTWARE REQUIREMENTS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Multimedia</dc:title>
  <dc:creator>Kapil</dc:creator>
  <cp:lastModifiedBy>Kapil</cp:lastModifiedBy>
  <cp:revision>6</cp:revision>
  <dcterms:created xsi:type="dcterms:W3CDTF">2020-04-03T09:06:47Z</dcterms:created>
  <dcterms:modified xsi:type="dcterms:W3CDTF">2020-04-04T07:04:54Z</dcterms:modified>
</cp:coreProperties>
</file>